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T Sans Narrow"/>
      <p:regular r:id="rId21"/>
      <p:bold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TSansNarrow-bold.fntdata"/><Relationship Id="rId21" Type="http://schemas.openxmlformats.org/officeDocument/2006/relationships/font" Target="fonts/PTSansNarrow-regular.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9d4316338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9d4316338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9c5eea08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9c5eea08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9c5eea08e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9c5eea08e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9d43163389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9d43163389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9d43163389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9d43163389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9d3d1f00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9d3d1f00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9c5eea08e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9c5eea08e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9c5eea08e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9c5eea08e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9c5eea08e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9c5eea08e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9c5eea08e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9c5eea08e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9c5eea08e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9c5eea08e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9d43163389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9d43163389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9c5eea08e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9c5eea08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9d4316338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9d4316338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covid.ourworldindata.org/" TargetMode="External"/><Relationship Id="rId4" Type="http://schemas.openxmlformats.org/officeDocument/2006/relationships/hyperlink" Target="https://covidtracking.com/data" TargetMode="External"/><Relationship Id="rId5" Type="http://schemas.openxmlformats.org/officeDocument/2006/relationships/hyperlink" Target="https://dataverse.harvard.edu/dataset.xhtml?persistentId=doi:10.7910/DVN/ZAKKCE" TargetMode="External"/><Relationship Id="rId6" Type="http://schemas.openxmlformats.org/officeDocument/2006/relationships/hyperlink" Target="https://data.cdc.gov/NCHS/Provisional-COVID-19-Death-Counts-by-Sex-Age-and-S/9bhg-hcku"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github.com/MWesner3344/DSCI-59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100"/>
              <a:t>COVID-19: </a:t>
            </a:r>
            <a:endParaRPr sz="4100"/>
          </a:p>
          <a:p>
            <a:pPr indent="0" lvl="0" marL="0" rtl="0" algn="ctr">
              <a:spcBef>
                <a:spcPts val="0"/>
              </a:spcBef>
              <a:spcAft>
                <a:spcPts val="0"/>
              </a:spcAft>
              <a:buNone/>
            </a:pPr>
            <a:r>
              <a:rPr lang="en" sz="2800"/>
              <a:t>Exploratory Data Analysis </a:t>
            </a:r>
            <a:endParaRPr sz="2800"/>
          </a:p>
          <a:p>
            <a:pPr indent="0" lvl="0" marL="0" rtl="0" algn="ctr">
              <a:spcBef>
                <a:spcPts val="0"/>
              </a:spcBef>
              <a:spcAft>
                <a:spcPts val="0"/>
              </a:spcAft>
              <a:buNone/>
            </a:pPr>
            <a:r>
              <a:rPr lang="en" sz="2800"/>
              <a:t>and Visualization</a:t>
            </a:r>
            <a:endParaRPr sz="2800"/>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Avani Jain, Toby Sheung, Michael Wesner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Proposal</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In this project our aim is to do time series analysis using COVID-19 dataset which is available from the dates 1st January 2020 to 3rd October 2020 and performing exploratory data analysis on different features present in the dataset. We are implementing different types of visualization. Attempt to find most important features of dataset using machine learning.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135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Steps</a:t>
            </a:r>
            <a:endParaRPr/>
          </a:p>
        </p:txBody>
      </p:sp>
      <p:sp>
        <p:nvSpPr>
          <p:cNvPr id="79" name="Google Shape;79;p15"/>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Find COVID-19 data for world with data available for each country</a:t>
            </a:r>
            <a:endParaRPr/>
          </a:p>
          <a:p>
            <a:pPr indent="-342900" lvl="0" marL="457200" rtl="0" algn="l">
              <a:spcBef>
                <a:spcPts val="0"/>
              </a:spcBef>
              <a:spcAft>
                <a:spcPts val="0"/>
              </a:spcAft>
              <a:buSzPts val="1800"/>
              <a:buChar char="●"/>
            </a:pPr>
            <a:r>
              <a:rPr lang="en"/>
              <a:t>Find more detailed COVID-19 data for United States with data available for each state</a:t>
            </a:r>
            <a:endParaRPr/>
          </a:p>
          <a:p>
            <a:pPr indent="-342900" lvl="0" marL="457200" rtl="0" algn="l">
              <a:spcBef>
                <a:spcPts val="0"/>
              </a:spcBef>
              <a:spcAft>
                <a:spcPts val="0"/>
              </a:spcAft>
              <a:buSzPts val="1800"/>
              <a:buChar char="●"/>
            </a:pPr>
            <a:r>
              <a:rPr lang="en"/>
              <a:t>Preprocess all data </a:t>
            </a:r>
            <a:endParaRPr/>
          </a:p>
          <a:p>
            <a:pPr indent="-342900" lvl="0" marL="457200" rtl="0" algn="l">
              <a:spcBef>
                <a:spcPts val="0"/>
              </a:spcBef>
              <a:spcAft>
                <a:spcPts val="0"/>
              </a:spcAft>
              <a:buSzPts val="1800"/>
              <a:buChar char="●"/>
            </a:pPr>
            <a:r>
              <a:rPr lang="en"/>
              <a:t>Exploratory data analysis </a:t>
            </a:r>
            <a:endParaRPr/>
          </a:p>
          <a:p>
            <a:pPr indent="-342900" lvl="0" marL="457200" rtl="0" algn="l">
              <a:spcBef>
                <a:spcPts val="0"/>
              </a:spcBef>
              <a:spcAft>
                <a:spcPts val="0"/>
              </a:spcAft>
              <a:buSzPts val="1800"/>
              <a:buChar char="●"/>
            </a:pPr>
            <a:r>
              <a:rPr lang="en"/>
              <a:t>Statistical and time series analysis</a:t>
            </a:r>
            <a:endParaRPr/>
          </a:p>
          <a:p>
            <a:pPr indent="-342900" lvl="0" marL="457200" rtl="0" algn="l">
              <a:spcBef>
                <a:spcPts val="0"/>
              </a:spcBef>
              <a:spcAft>
                <a:spcPts val="0"/>
              </a:spcAft>
              <a:buSzPts val="1800"/>
              <a:buChar char="●"/>
            </a:pPr>
            <a:r>
              <a:rPr lang="en"/>
              <a:t>Visualizations</a:t>
            </a:r>
            <a:endParaRPr/>
          </a:p>
          <a:p>
            <a:pPr indent="-342900" lvl="0" marL="457200" rtl="0" algn="l">
              <a:spcBef>
                <a:spcPts val="0"/>
              </a:spcBef>
              <a:spcAft>
                <a:spcPts val="0"/>
              </a:spcAft>
              <a:buSzPts val="1800"/>
              <a:buChar char="●"/>
            </a:pPr>
            <a:r>
              <a:rPr lang="en"/>
              <a:t>Machine learning to find most important features in data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Datasets </a:t>
            </a:r>
            <a:endParaRPr/>
          </a:p>
        </p:txBody>
      </p:sp>
      <p:sp>
        <p:nvSpPr>
          <p:cNvPr id="85" name="Google Shape;85;p1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600"/>
              <a:t>Our world in data:</a:t>
            </a:r>
            <a:r>
              <a:rPr lang="en" sz="1400"/>
              <a:t> </a:t>
            </a:r>
            <a:r>
              <a:rPr lang="en" sz="1100" u="sng">
                <a:solidFill>
                  <a:schemeClr val="hlink"/>
                </a:solidFill>
                <a:hlinkClick r:id="rId3"/>
              </a:rPr>
              <a:t>https://covid.ourworldindata.org/</a:t>
            </a:r>
            <a:endParaRPr sz="1100"/>
          </a:p>
          <a:p>
            <a:pPr indent="-317500" lvl="0" marL="457200" rtl="0" algn="l">
              <a:spcBef>
                <a:spcPts val="0"/>
              </a:spcBef>
              <a:spcAft>
                <a:spcPts val="0"/>
              </a:spcAft>
              <a:buSzPts val="1400"/>
              <a:buChar char="●"/>
            </a:pPr>
            <a:r>
              <a:rPr lang="en" sz="1600"/>
              <a:t>Covid tracking:</a:t>
            </a:r>
            <a:r>
              <a:rPr lang="en" sz="1400"/>
              <a:t> </a:t>
            </a:r>
            <a:r>
              <a:rPr lang="en" sz="1100" u="sng">
                <a:solidFill>
                  <a:schemeClr val="hlink"/>
                </a:solidFill>
                <a:hlinkClick r:id="rId4"/>
              </a:rPr>
              <a:t>https://covidtracking.com/data</a:t>
            </a:r>
            <a:endParaRPr sz="1100"/>
          </a:p>
          <a:p>
            <a:pPr indent="-317500" lvl="0" marL="457200" rtl="0" algn="l">
              <a:spcBef>
                <a:spcPts val="0"/>
              </a:spcBef>
              <a:spcAft>
                <a:spcPts val="0"/>
              </a:spcAft>
              <a:buSzPts val="1400"/>
              <a:buChar char="●"/>
            </a:pPr>
            <a:r>
              <a:rPr lang="en" sz="1600"/>
              <a:t>Social distancing index:</a:t>
            </a:r>
            <a:r>
              <a:rPr lang="en" sz="1400"/>
              <a:t> </a:t>
            </a:r>
            <a:r>
              <a:rPr lang="en" sz="1100" u="sng">
                <a:solidFill>
                  <a:schemeClr val="hlink"/>
                </a:solidFill>
                <a:hlinkClick r:id="rId5"/>
              </a:rPr>
              <a:t>https://dataverse.harvard.edu/dataset.xhtml?persistentId=doi:10.7910/DVN/ZAKKCE</a:t>
            </a:r>
            <a:endParaRPr sz="1100"/>
          </a:p>
          <a:p>
            <a:pPr indent="-317500" lvl="0" marL="457200" rtl="0" algn="l">
              <a:spcBef>
                <a:spcPts val="0"/>
              </a:spcBef>
              <a:spcAft>
                <a:spcPts val="0"/>
              </a:spcAft>
              <a:buSzPts val="1400"/>
              <a:buChar char="●"/>
            </a:pPr>
            <a:r>
              <a:rPr lang="en" sz="1600"/>
              <a:t>CDC:</a:t>
            </a:r>
            <a:r>
              <a:rPr lang="en" sz="1400"/>
              <a:t> </a:t>
            </a:r>
            <a:r>
              <a:rPr lang="en" sz="1100" u="sng">
                <a:solidFill>
                  <a:schemeClr val="hlink"/>
                </a:solidFill>
                <a:hlinkClick r:id="rId6"/>
              </a:rPr>
              <a:t>https://data.cdc.gov/NCHS/Provisional-COVID-19-Death-Counts-by-Sex-Age-and-S/9bhg-hcku</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Removal of Data</a:t>
            </a:r>
            <a:endParaRPr/>
          </a:p>
        </p:txBody>
      </p:sp>
      <p:pic>
        <p:nvPicPr>
          <p:cNvPr id="91" name="Google Shape;91;p17"/>
          <p:cNvPicPr preferRelativeResize="0"/>
          <p:nvPr/>
        </p:nvPicPr>
        <p:blipFill>
          <a:blip r:embed="rId3">
            <a:alphaModFix/>
          </a:blip>
          <a:stretch>
            <a:fillRect/>
          </a:stretch>
        </p:blipFill>
        <p:spPr>
          <a:xfrm>
            <a:off x="311700" y="1065525"/>
            <a:ext cx="5137201" cy="2516526"/>
          </a:xfrm>
          <a:prstGeom prst="rect">
            <a:avLst/>
          </a:prstGeom>
          <a:noFill/>
          <a:ln>
            <a:noFill/>
          </a:ln>
        </p:spPr>
      </p:pic>
      <p:sp>
        <p:nvSpPr>
          <p:cNvPr id="92" name="Google Shape;92;p17"/>
          <p:cNvSpPr txBox="1"/>
          <p:nvPr/>
        </p:nvSpPr>
        <p:spPr>
          <a:xfrm>
            <a:off x="5774575" y="1382100"/>
            <a:ext cx="3026100" cy="2928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Removal of smoothed columns: new_cases_smoothed, new_cases_smoothed_per_million, etc.</a:t>
            </a:r>
            <a:endParaRPr/>
          </a:p>
          <a:p>
            <a:pPr indent="-317500" lvl="0" marL="457200" rtl="0" algn="l">
              <a:spcBef>
                <a:spcPts val="0"/>
              </a:spcBef>
              <a:spcAft>
                <a:spcPts val="0"/>
              </a:spcAft>
              <a:buSzPts val="1400"/>
              <a:buChar char="●"/>
            </a:pPr>
            <a:r>
              <a:rPr lang="en"/>
              <a:t>Removal of not detailed variables: </a:t>
            </a:r>
            <a:r>
              <a:rPr lang="en">
                <a:highlight>
                  <a:srgbClr val="FFFFFF"/>
                </a:highlight>
              </a:rPr>
              <a:t>tests_units, stringency_index</a:t>
            </a:r>
            <a:endParaRPr>
              <a:highlight>
                <a:srgbClr val="FFFFFF"/>
              </a:highlight>
            </a:endParaRPr>
          </a:p>
          <a:p>
            <a:pPr indent="-317500" lvl="0" marL="457200" rtl="0" algn="l">
              <a:spcBef>
                <a:spcPts val="0"/>
              </a:spcBef>
              <a:spcAft>
                <a:spcPts val="0"/>
              </a:spcAft>
              <a:buSzPts val="1400"/>
              <a:buChar char="●"/>
            </a:pPr>
            <a:r>
              <a:rPr lang="en">
                <a:highlight>
                  <a:srgbClr val="FFFFFF"/>
                </a:highlight>
              </a:rPr>
              <a:t>Deleted rows with Location = International (not enough information)</a:t>
            </a:r>
            <a:endParaRPr>
              <a:highlight>
                <a:srgbClr val="FFFFFF"/>
              </a:highlight>
            </a:endParaRPr>
          </a:p>
          <a:p>
            <a:pPr indent="-317500" lvl="0" marL="457200" rtl="0" algn="l">
              <a:spcBef>
                <a:spcPts val="0"/>
              </a:spcBef>
              <a:spcAft>
                <a:spcPts val="0"/>
              </a:spcAft>
              <a:buSzPts val="1400"/>
              <a:buChar char="●"/>
            </a:pPr>
            <a:r>
              <a:rPr lang="en">
                <a:highlight>
                  <a:srgbClr val="FFFFFF"/>
                </a:highlight>
              </a:rPr>
              <a:t>Deleted locations that do not have all 278 dates</a:t>
            </a:r>
            <a:endParaRPr>
              <a:highlight>
                <a:srgbClr val="FFFFFF"/>
              </a:highlight>
            </a:endParaRPr>
          </a:p>
          <a:p>
            <a:pPr indent="0" lvl="0" marL="457200" rtl="0" algn="l">
              <a:spcBef>
                <a:spcPts val="0"/>
              </a:spcBef>
              <a:spcAft>
                <a:spcPts val="0"/>
              </a:spcAft>
              <a:buNone/>
            </a:pPr>
            <a:r>
              <a:rPr lang="en">
                <a:solidFill>
                  <a:schemeClr val="dk1"/>
                </a:solidFill>
                <a:highlight>
                  <a:srgbClr val="FFFFFF"/>
                </a:highlight>
              </a:rPr>
              <a:t> </a:t>
            </a:r>
            <a:endParaRPr/>
          </a:p>
        </p:txBody>
      </p:sp>
      <p:pic>
        <p:nvPicPr>
          <p:cNvPr id="93" name="Google Shape;93;p17"/>
          <p:cNvPicPr preferRelativeResize="0"/>
          <p:nvPr/>
        </p:nvPicPr>
        <p:blipFill>
          <a:blip r:embed="rId4">
            <a:alphaModFix/>
          </a:blip>
          <a:stretch>
            <a:fillRect/>
          </a:stretch>
        </p:blipFill>
        <p:spPr>
          <a:xfrm>
            <a:off x="511175" y="3582050"/>
            <a:ext cx="4801402" cy="1152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Null Values</a:t>
            </a:r>
            <a:endParaRPr/>
          </a:p>
        </p:txBody>
      </p:sp>
      <p:pic>
        <p:nvPicPr>
          <p:cNvPr id="99" name="Google Shape;99;p18"/>
          <p:cNvPicPr preferRelativeResize="0"/>
          <p:nvPr/>
        </p:nvPicPr>
        <p:blipFill>
          <a:blip r:embed="rId3">
            <a:alphaModFix/>
          </a:blip>
          <a:stretch>
            <a:fillRect/>
          </a:stretch>
        </p:blipFill>
        <p:spPr>
          <a:xfrm>
            <a:off x="576750" y="1145888"/>
            <a:ext cx="2582696" cy="3820975"/>
          </a:xfrm>
          <a:prstGeom prst="rect">
            <a:avLst/>
          </a:prstGeom>
          <a:noFill/>
          <a:ln>
            <a:noFill/>
          </a:ln>
        </p:spPr>
      </p:pic>
      <p:sp>
        <p:nvSpPr>
          <p:cNvPr id="100" name="Google Shape;100;p18"/>
          <p:cNvSpPr txBox="1"/>
          <p:nvPr/>
        </p:nvSpPr>
        <p:spPr>
          <a:xfrm>
            <a:off x="3426875" y="1145900"/>
            <a:ext cx="4998300" cy="1202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To remove null values, we front filled numbers within each location</a:t>
            </a:r>
            <a:endParaRPr/>
          </a:p>
          <a:p>
            <a:pPr indent="-317500" lvl="0" marL="457200" rtl="0" algn="l">
              <a:spcBef>
                <a:spcPts val="0"/>
              </a:spcBef>
              <a:spcAft>
                <a:spcPts val="0"/>
              </a:spcAft>
              <a:buSzPts val="1400"/>
              <a:buChar char="●"/>
            </a:pPr>
            <a:r>
              <a:rPr lang="en"/>
              <a:t>Focusing only on columns about covid data not about population and age</a:t>
            </a:r>
            <a:endParaRPr/>
          </a:p>
        </p:txBody>
      </p:sp>
      <p:pic>
        <p:nvPicPr>
          <p:cNvPr id="101" name="Google Shape;101;p18"/>
          <p:cNvPicPr preferRelativeResize="0"/>
          <p:nvPr/>
        </p:nvPicPr>
        <p:blipFill>
          <a:blip r:embed="rId4">
            <a:alphaModFix/>
          </a:blip>
          <a:stretch>
            <a:fillRect/>
          </a:stretch>
        </p:blipFill>
        <p:spPr>
          <a:xfrm>
            <a:off x="3527538" y="2287450"/>
            <a:ext cx="3821874" cy="1386225"/>
          </a:xfrm>
          <a:prstGeom prst="rect">
            <a:avLst/>
          </a:prstGeom>
          <a:noFill/>
          <a:ln>
            <a:noFill/>
          </a:ln>
        </p:spPr>
      </p:pic>
      <p:pic>
        <p:nvPicPr>
          <p:cNvPr id="102" name="Google Shape;102;p18"/>
          <p:cNvPicPr preferRelativeResize="0"/>
          <p:nvPr/>
        </p:nvPicPr>
        <p:blipFill>
          <a:blip r:embed="rId5">
            <a:alphaModFix/>
          </a:blip>
          <a:stretch>
            <a:fillRect/>
          </a:stretch>
        </p:blipFill>
        <p:spPr>
          <a:xfrm>
            <a:off x="3554651" y="3700049"/>
            <a:ext cx="4229771" cy="120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Clean Covid-19 Dataset</a:t>
            </a:r>
            <a:endParaRPr/>
          </a:p>
        </p:txBody>
      </p:sp>
      <p:pic>
        <p:nvPicPr>
          <p:cNvPr id="108" name="Google Shape;108;p19"/>
          <p:cNvPicPr preferRelativeResize="0"/>
          <p:nvPr/>
        </p:nvPicPr>
        <p:blipFill>
          <a:blip r:embed="rId3">
            <a:alphaModFix/>
          </a:blip>
          <a:stretch>
            <a:fillRect/>
          </a:stretch>
        </p:blipFill>
        <p:spPr>
          <a:xfrm>
            <a:off x="3366225" y="3163800"/>
            <a:ext cx="4289075" cy="1669525"/>
          </a:xfrm>
          <a:prstGeom prst="rect">
            <a:avLst/>
          </a:prstGeom>
          <a:noFill/>
          <a:ln>
            <a:noFill/>
          </a:ln>
        </p:spPr>
      </p:pic>
      <p:pic>
        <p:nvPicPr>
          <p:cNvPr id="109" name="Google Shape;109;p19"/>
          <p:cNvPicPr preferRelativeResize="0"/>
          <p:nvPr/>
        </p:nvPicPr>
        <p:blipFill>
          <a:blip r:embed="rId4">
            <a:alphaModFix/>
          </a:blip>
          <a:stretch>
            <a:fillRect/>
          </a:stretch>
        </p:blipFill>
        <p:spPr>
          <a:xfrm>
            <a:off x="311701" y="1274825"/>
            <a:ext cx="2751799" cy="3590051"/>
          </a:xfrm>
          <a:prstGeom prst="rect">
            <a:avLst/>
          </a:prstGeom>
          <a:noFill/>
          <a:ln>
            <a:noFill/>
          </a:ln>
        </p:spPr>
      </p:pic>
      <p:sp>
        <p:nvSpPr>
          <p:cNvPr id="110" name="Google Shape;110;p19"/>
          <p:cNvSpPr txBox="1"/>
          <p:nvPr/>
        </p:nvSpPr>
        <p:spPr>
          <a:xfrm>
            <a:off x="3475413" y="1424913"/>
            <a:ext cx="4070700" cy="1331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65 unique locations</a:t>
            </a:r>
            <a:endParaRPr/>
          </a:p>
          <a:p>
            <a:pPr indent="-317500" lvl="0" marL="457200" rtl="0" algn="l">
              <a:spcBef>
                <a:spcPts val="0"/>
              </a:spcBef>
              <a:spcAft>
                <a:spcPts val="0"/>
              </a:spcAft>
              <a:buSzPts val="1400"/>
              <a:buChar char="●"/>
            </a:pPr>
            <a:r>
              <a:rPr lang="en"/>
              <a:t>33 columns</a:t>
            </a:r>
            <a:endParaRPr/>
          </a:p>
          <a:p>
            <a:pPr indent="-317500" lvl="0" marL="457200" rtl="0" algn="l">
              <a:spcBef>
                <a:spcPts val="0"/>
              </a:spcBef>
              <a:spcAft>
                <a:spcPts val="0"/>
              </a:spcAft>
              <a:buSzPts val="1400"/>
              <a:buChar char="●"/>
            </a:pPr>
            <a:r>
              <a:rPr lang="en"/>
              <a:t>18070 rows</a:t>
            </a:r>
            <a:endParaRPr/>
          </a:p>
          <a:p>
            <a:pPr indent="-317500" lvl="0" marL="457200" rtl="0" algn="l">
              <a:spcBef>
                <a:spcPts val="0"/>
              </a:spcBef>
              <a:spcAft>
                <a:spcPts val="0"/>
              </a:spcAft>
              <a:buSzPts val="1400"/>
              <a:buChar char="●"/>
            </a:pPr>
            <a:r>
              <a:rPr lang="en"/>
              <a:t>Any variables related to covid-19 numbers, have no remaining null values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rot="-484">
            <a:off x="311688" y="16972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Split US from owid data, remove null values, </a:t>
            </a:r>
            <a:endParaRPr/>
          </a:p>
          <a:p>
            <a:pPr indent="0" lvl="0" marL="0" rtl="0" algn="ctr">
              <a:spcBef>
                <a:spcPts val="0"/>
              </a:spcBef>
              <a:spcAft>
                <a:spcPts val="0"/>
              </a:spcAft>
              <a:buNone/>
            </a:pPr>
            <a:r>
              <a:rPr lang="en"/>
              <a:t> and merge with covid tracking</a:t>
            </a:r>
            <a:endParaRPr/>
          </a:p>
        </p:txBody>
      </p:sp>
      <p:pic>
        <p:nvPicPr>
          <p:cNvPr id="116" name="Google Shape;116;p20"/>
          <p:cNvPicPr preferRelativeResize="0"/>
          <p:nvPr/>
        </p:nvPicPr>
        <p:blipFill>
          <a:blip r:embed="rId3">
            <a:alphaModFix/>
          </a:blip>
          <a:stretch>
            <a:fillRect/>
          </a:stretch>
        </p:blipFill>
        <p:spPr>
          <a:xfrm>
            <a:off x="81600" y="1608625"/>
            <a:ext cx="6515653" cy="616150"/>
          </a:xfrm>
          <a:prstGeom prst="rect">
            <a:avLst/>
          </a:prstGeom>
          <a:noFill/>
          <a:ln>
            <a:noFill/>
          </a:ln>
        </p:spPr>
      </p:pic>
      <p:pic>
        <p:nvPicPr>
          <p:cNvPr id="117" name="Google Shape;117;p20"/>
          <p:cNvPicPr preferRelativeResize="0"/>
          <p:nvPr/>
        </p:nvPicPr>
        <p:blipFill>
          <a:blip r:embed="rId4">
            <a:alphaModFix/>
          </a:blip>
          <a:stretch>
            <a:fillRect/>
          </a:stretch>
        </p:blipFill>
        <p:spPr>
          <a:xfrm>
            <a:off x="3901675" y="2935875"/>
            <a:ext cx="5144877" cy="2173200"/>
          </a:xfrm>
          <a:prstGeom prst="rect">
            <a:avLst/>
          </a:prstGeom>
          <a:noFill/>
          <a:ln>
            <a:noFill/>
          </a:ln>
        </p:spPr>
      </p:pic>
      <p:pic>
        <p:nvPicPr>
          <p:cNvPr id="118" name="Google Shape;118;p20"/>
          <p:cNvPicPr preferRelativeResize="0"/>
          <p:nvPr/>
        </p:nvPicPr>
        <p:blipFill>
          <a:blip r:embed="rId5">
            <a:alphaModFix/>
          </a:blip>
          <a:stretch>
            <a:fillRect/>
          </a:stretch>
        </p:blipFill>
        <p:spPr>
          <a:xfrm>
            <a:off x="3901676" y="2377175"/>
            <a:ext cx="5144877" cy="465950"/>
          </a:xfrm>
          <a:prstGeom prst="rect">
            <a:avLst/>
          </a:prstGeom>
          <a:noFill/>
          <a:ln>
            <a:noFill/>
          </a:ln>
        </p:spPr>
      </p:pic>
      <p:pic>
        <p:nvPicPr>
          <p:cNvPr id="119" name="Google Shape;119;p20"/>
          <p:cNvPicPr preferRelativeResize="0"/>
          <p:nvPr/>
        </p:nvPicPr>
        <p:blipFill>
          <a:blip r:embed="rId6">
            <a:alphaModFix/>
          </a:blip>
          <a:stretch>
            <a:fillRect/>
          </a:stretch>
        </p:blipFill>
        <p:spPr>
          <a:xfrm>
            <a:off x="81600" y="2377175"/>
            <a:ext cx="3667676" cy="27319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ctrTitle"/>
          </p:nvPr>
        </p:nvSpPr>
        <p:spPr>
          <a:xfrm>
            <a:off x="1004150" y="1751764"/>
            <a:ext cx="7136700" cy="102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500"/>
              <a:t>Completed data visualizations</a:t>
            </a:r>
            <a:endParaRPr sz="4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2"/>
          <p:cNvPicPr preferRelativeResize="0"/>
          <p:nvPr/>
        </p:nvPicPr>
        <p:blipFill>
          <a:blip r:embed="rId3">
            <a:alphaModFix/>
          </a:blip>
          <a:stretch>
            <a:fillRect/>
          </a:stretch>
        </p:blipFill>
        <p:spPr>
          <a:xfrm>
            <a:off x="984700" y="173950"/>
            <a:ext cx="7174600" cy="47955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3"/>
          <p:cNvPicPr preferRelativeResize="0"/>
          <p:nvPr/>
        </p:nvPicPr>
        <p:blipFill>
          <a:blip r:embed="rId3">
            <a:alphaModFix/>
          </a:blip>
          <a:stretch>
            <a:fillRect/>
          </a:stretch>
        </p:blipFill>
        <p:spPr>
          <a:xfrm>
            <a:off x="955477" y="0"/>
            <a:ext cx="7233049" cy="5143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4"/>
          <p:cNvPicPr preferRelativeResize="0"/>
          <p:nvPr/>
        </p:nvPicPr>
        <p:blipFill>
          <a:blip r:embed="rId3">
            <a:alphaModFix/>
          </a:blip>
          <a:stretch>
            <a:fillRect/>
          </a:stretch>
        </p:blipFill>
        <p:spPr>
          <a:xfrm>
            <a:off x="1028538" y="0"/>
            <a:ext cx="7086927" cy="5143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46" name="Google Shape;146;p25"/>
          <p:cNvPicPr preferRelativeResize="0"/>
          <p:nvPr/>
        </p:nvPicPr>
        <p:blipFill>
          <a:blip r:embed="rId3">
            <a:alphaModFix/>
          </a:blip>
          <a:stretch>
            <a:fillRect/>
          </a:stretch>
        </p:blipFill>
        <p:spPr>
          <a:xfrm>
            <a:off x="247585" y="0"/>
            <a:ext cx="8648832" cy="5143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6"/>
          <p:cNvPicPr preferRelativeResize="0"/>
          <p:nvPr/>
        </p:nvPicPr>
        <p:blipFill>
          <a:blip r:embed="rId3">
            <a:alphaModFix/>
          </a:blip>
          <a:stretch>
            <a:fillRect/>
          </a:stretch>
        </p:blipFill>
        <p:spPr>
          <a:xfrm>
            <a:off x="1145435" y="0"/>
            <a:ext cx="6853131" cy="5143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Steps</a:t>
            </a:r>
            <a:endParaRPr/>
          </a:p>
        </p:txBody>
      </p:sp>
      <p:sp>
        <p:nvSpPr>
          <p:cNvPr id="157" name="Google Shape;157;p27"/>
          <p:cNvSpPr txBox="1"/>
          <p:nvPr>
            <p:ph idx="1" type="body"/>
          </p:nvPr>
        </p:nvSpPr>
        <p:spPr>
          <a:xfrm>
            <a:off x="311700" y="1152475"/>
            <a:ext cx="8520600" cy="1240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Continue with preprocessing datasets</a:t>
            </a:r>
            <a:endParaRPr sz="1200"/>
          </a:p>
          <a:p>
            <a:pPr indent="-304800" lvl="0" marL="457200" rtl="0" algn="l">
              <a:spcBef>
                <a:spcPts val="0"/>
              </a:spcBef>
              <a:spcAft>
                <a:spcPts val="0"/>
              </a:spcAft>
              <a:buSzPts val="1200"/>
              <a:buChar char="●"/>
            </a:pPr>
            <a:r>
              <a:rPr lang="en" sz="1200"/>
              <a:t>Make visualizations for the most at risk age populations</a:t>
            </a:r>
            <a:endParaRPr sz="1200"/>
          </a:p>
          <a:p>
            <a:pPr indent="-304800" lvl="0" marL="457200" rtl="0" algn="l">
              <a:spcBef>
                <a:spcPts val="0"/>
              </a:spcBef>
              <a:spcAft>
                <a:spcPts val="0"/>
              </a:spcAft>
              <a:buSzPts val="1200"/>
              <a:buChar char="●"/>
            </a:pPr>
            <a:r>
              <a:rPr lang="en" sz="1200"/>
              <a:t>COVID-19 visualizations according to the gender</a:t>
            </a:r>
            <a:endParaRPr sz="1200"/>
          </a:p>
          <a:p>
            <a:pPr indent="-304800" lvl="0" marL="457200" rtl="0" algn="l">
              <a:spcBef>
                <a:spcPts val="0"/>
              </a:spcBef>
              <a:spcAft>
                <a:spcPts val="0"/>
              </a:spcAft>
              <a:buSzPts val="1200"/>
              <a:buChar char="●"/>
            </a:pPr>
            <a:r>
              <a:rPr lang="en" sz="1200"/>
              <a:t>Statistical analysis</a:t>
            </a:r>
            <a:endParaRPr sz="1200"/>
          </a:p>
          <a:p>
            <a:pPr indent="-304800" lvl="0" marL="457200" rtl="0" algn="l">
              <a:spcBef>
                <a:spcPts val="0"/>
              </a:spcBef>
              <a:spcAft>
                <a:spcPts val="0"/>
              </a:spcAft>
              <a:buSzPts val="1200"/>
              <a:buChar char="●"/>
            </a:pPr>
            <a:r>
              <a:rPr lang="en" sz="1200"/>
              <a:t>Machine learning to find feature importance</a:t>
            </a:r>
            <a:endParaRPr sz="1200"/>
          </a:p>
        </p:txBody>
      </p:sp>
      <p:sp>
        <p:nvSpPr>
          <p:cNvPr id="158" name="Google Shape;158;p27"/>
          <p:cNvSpPr txBox="1"/>
          <p:nvPr/>
        </p:nvSpPr>
        <p:spPr>
          <a:xfrm>
            <a:off x="311700" y="4229550"/>
            <a:ext cx="4691100" cy="5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Github: </a:t>
            </a:r>
            <a:r>
              <a:rPr lang="en" u="sng">
                <a:solidFill>
                  <a:schemeClr val="hlink"/>
                </a:solidFill>
                <a:hlinkClick r:id="rId3"/>
              </a:rPr>
              <a:t>https://github.com/MWesner3344/DSCI-591</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